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842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7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2E335C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1FB6A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40080"/>
            <a:ext cx="640080" cy="64008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" y="723290"/>
            <a:ext cx="473659" cy="473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286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Timetable Generator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Scheduling Conflicts with a Genetic Algorithm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5852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Java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731520" y="5806440"/>
            <a:ext cx="576072" cy="384048"/>
          </a:xfrm>
          <a:prstGeom prst="roundRect">
            <a:avLst>
              <a:gd name="adj" fmla="val 19048"/>
            </a:avLst>
          </a:prstGeom>
          <a:solidFill>
            <a:srgbClr val="2E335C"/>
          </a:solidFill>
          <a:ln w="9525">
            <a:solidFill>
              <a:srgbClr val="1FB6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806440"/>
            <a:ext cx="576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472184" y="5806440"/>
            <a:ext cx="1618488" cy="384048"/>
          </a:xfrm>
          <a:prstGeom prst="roundRect">
            <a:avLst>
              <a:gd name="adj" fmla="val 19048"/>
            </a:avLst>
          </a:prstGeom>
          <a:solidFill>
            <a:srgbClr val="2E335C"/>
          </a:solidFill>
          <a:ln w="9525">
            <a:solidFill>
              <a:srgbClr val="1FB6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72184" y="5806440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55264" y="5806440"/>
            <a:ext cx="836676" cy="384048"/>
          </a:xfrm>
          <a:prstGeom prst="roundRect">
            <a:avLst>
              <a:gd name="adj" fmla="val 19048"/>
            </a:avLst>
          </a:prstGeom>
          <a:solidFill>
            <a:srgbClr val="2E335C"/>
          </a:solidFill>
          <a:ln w="9525">
            <a:solidFill>
              <a:srgbClr val="1FB6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55264" y="5806440"/>
            <a:ext cx="8366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56532" y="5806440"/>
            <a:ext cx="489204" cy="384048"/>
          </a:xfrm>
          <a:prstGeom prst="roundRect">
            <a:avLst>
              <a:gd name="adj" fmla="val 19048"/>
            </a:avLst>
          </a:prstGeom>
          <a:solidFill>
            <a:srgbClr val="2E335C"/>
          </a:solidFill>
          <a:ln w="9525">
            <a:solidFill>
              <a:srgbClr val="1FB6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56532" y="5806440"/>
            <a:ext cx="489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910328" y="580644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2E335C"/>
          </a:solidFill>
          <a:ln w="9525">
            <a:solidFill>
              <a:srgbClr val="1FB6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10328" y="5806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UI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64657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timetabling isn't a simple loop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8722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weekly class schedule that satisfies every teacher, every classroom, and every subject's requirements at once. There is no slot-by-slot assignment that's guaranteed correct — placing one subject can break a constraint three days later.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0" y="1508760"/>
            <a:ext cx="4297680" cy="868680"/>
          </a:xfrm>
          <a:prstGeom prst="roundRect">
            <a:avLst>
              <a:gd name="adj" fmla="val 7368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0" y="169164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460" y="175702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15087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always last period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0" y="2560320"/>
            <a:ext cx="4297680" cy="868680"/>
          </a:xfrm>
          <a:prstGeom prst="roundRect">
            <a:avLst>
              <a:gd name="adj" fmla="val 7368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0" y="274320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3460" y="280858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83880" y="25603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gaps in the school day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315200" y="3611880"/>
            <a:ext cx="4297680" cy="868680"/>
          </a:xfrm>
          <a:prstGeom prst="roundRect">
            <a:avLst>
              <a:gd name="adj" fmla="val 7368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498080" y="379476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3460" y="3860140"/>
            <a:ext cx="372161" cy="3721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83880" y="361188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teacher double-booked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7315200" y="4663440"/>
            <a:ext cx="4297680" cy="868680"/>
          </a:xfrm>
          <a:prstGeom prst="roundRect">
            <a:avLst>
              <a:gd name="adj" fmla="val 7368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498080" y="484632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3460" y="4911700"/>
            <a:ext cx="372161" cy="37216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83880" y="466344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classroom double-booked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Timetable Generator — Genetic Algorithm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behind the engine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199156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99008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language, Maven build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a-GE" dirty="0"/>
          </a:p>
        </p:txBody>
      </p:sp>
      <p:sp>
        <p:nvSpPr>
          <p:cNvPr id="10" name="Shape 7"/>
          <p:cNvSpPr/>
          <p:nvPr/>
        </p:nvSpPr>
        <p:spPr>
          <a:xfrm>
            <a:off x="4617720" y="192024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043" y="199156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606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17720" y="299008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subjects, teachers, rooms, results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192024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9523" y="199156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606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58200" y="299008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mapping layer between Java and DB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a-GE" dirty="0"/>
          </a:p>
        </p:txBody>
      </p:sp>
      <p:sp>
        <p:nvSpPr>
          <p:cNvPr id="20" name="Shape 15"/>
          <p:cNvSpPr/>
          <p:nvPr/>
        </p:nvSpPr>
        <p:spPr>
          <a:xfrm>
            <a:off x="777240" y="434340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" y="4414723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5029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77240" y="541324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Service / DAO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41148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34340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9043" y="4414723"/>
            <a:ext cx="405994" cy="4059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5029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UI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617720" y="541324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terminal interaction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29600" y="41148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58200" y="434340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9523" y="4414723"/>
            <a:ext cx="405994" cy="4059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58200" y="5029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458200" y="541324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Evolves candidate timetables toward fitness 0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Timetable Generator — Genetic Algorithm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layers and how a request flows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97180" y="22860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24688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" y="254020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7180" y="3154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/ View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4340" y="34564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console input, prints results (PrinterUtils)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953512" y="2953512"/>
            <a:ext cx="219456" cy="219456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0" name="Shape 7"/>
          <p:cNvSpPr/>
          <p:nvPr/>
        </p:nvSpPr>
        <p:spPr>
          <a:xfrm>
            <a:off x="3314700" y="22860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7680" y="24688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003" y="2540203"/>
            <a:ext cx="405994" cy="4059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4700" y="3154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51860" y="34564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logic: GA, fitness scoring, initialization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971032" y="2953512"/>
            <a:ext cx="219456" cy="219456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6" name="Shape 12"/>
          <p:cNvSpPr/>
          <p:nvPr/>
        </p:nvSpPr>
        <p:spPr>
          <a:xfrm>
            <a:off x="6332220" y="22860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0" y="24688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6523" y="2540203"/>
            <a:ext cx="405994" cy="40599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32220" y="3154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(MyBatis)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69380" y="34564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interfaces talk to the database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8988552" y="2953512"/>
            <a:ext cx="219456" cy="219456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22" name="Shape 17"/>
          <p:cNvSpPr/>
          <p:nvPr/>
        </p:nvSpPr>
        <p:spPr>
          <a:xfrm>
            <a:off x="9380220" y="2267712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1B1F3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332720" y="2468880"/>
            <a:ext cx="548640" cy="54864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4043" y="2540203"/>
            <a:ext cx="405994" cy="40599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49740" y="3154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486900" y="34564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tables: subjects, teachers, classrooms, timetables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731520" y="42976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loads data via DataLoaderService -&gt; builds an initial population via TimetableInitializerService -&gt; hands it to GeneticAlgorithmService.evolve() -&gt; prints the best result via PrinterUtils.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Timetable Generator — Genetic Algorithm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 behind the schedule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138F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952244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874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4688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isPe flag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892808"/>
            <a:ext cx="457200" cy="457200"/>
          </a:xfrm>
          <a:prstGeom prst="ellipse">
            <a:avLst/>
          </a:prstGeom>
          <a:solidFill>
            <a:srgbClr val="138F8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724" y="1952244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874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0288" y="24688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list of qualified subjects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0768" y="1892808"/>
            <a:ext cx="457200" cy="457200"/>
          </a:xfrm>
          <a:prstGeom prst="ellipse">
            <a:avLst/>
          </a:prstGeom>
          <a:solidFill>
            <a:srgbClr val="138F8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204" y="1952244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1874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30768" y="24688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 (e.g. Gym for PE)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566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767328"/>
            <a:ext cx="457200" cy="457200"/>
          </a:xfrm>
          <a:prstGeom prst="ellipse">
            <a:avLst/>
          </a:prstGeom>
          <a:solidFill>
            <a:srgbClr val="138F8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" y="3826764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749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TimeSlot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9808" y="4343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 + period number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9120" y="3566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0288" y="3767328"/>
            <a:ext cx="457200" cy="457200"/>
          </a:xfrm>
          <a:prstGeom prst="ellipse">
            <a:avLst/>
          </a:prstGeom>
          <a:solidFill>
            <a:srgbClr val="138F8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9724" y="3826764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3749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TimetableEntry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90288" y="4343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one (slot, subject, teacher, classroom) pairing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29600" y="3566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30768" y="3767328"/>
            <a:ext cx="457200" cy="457200"/>
          </a:xfrm>
          <a:prstGeom prst="ellipse">
            <a:avLst/>
          </a:prstGeom>
          <a:solidFill>
            <a:srgbClr val="138F8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0204" y="3826764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6840" y="3749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30768" y="4343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list of entries + a fitness score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Timetable Generator — Genetic Algorithm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Chromosome = One Timetable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solution is a full week of entries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8872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88720" y="1828800"/>
            <a:ext cx="1773936" cy="539496"/>
          </a:xfrm>
          <a:prstGeom prst="rect">
            <a:avLst/>
          </a:prstGeom>
          <a:solidFill>
            <a:srgbClr val="2E335C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1828800"/>
            <a:ext cx="17739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7520" y="1828800"/>
            <a:ext cx="1773936" cy="539496"/>
          </a:xfrm>
          <a:prstGeom prst="rect">
            <a:avLst/>
          </a:prstGeom>
          <a:solidFill>
            <a:srgbClr val="2E335C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1828800"/>
            <a:ext cx="17739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828800"/>
            <a:ext cx="1773936" cy="539496"/>
          </a:xfrm>
          <a:prstGeom prst="rect">
            <a:avLst/>
          </a:prstGeom>
          <a:solidFill>
            <a:srgbClr val="2E335C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828800"/>
            <a:ext cx="17739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1828800"/>
            <a:ext cx="1773936" cy="539496"/>
          </a:xfrm>
          <a:prstGeom prst="rect">
            <a:avLst/>
          </a:prstGeom>
          <a:solidFill>
            <a:srgbClr val="2E335C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828800"/>
            <a:ext cx="17739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503920" y="1828800"/>
            <a:ext cx="1773936" cy="539496"/>
          </a:xfrm>
          <a:prstGeom prst="rect">
            <a:avLst/>
          </a:prstGeom>
          <a:solidFill>
            <a:srgbClr val="2E335C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1828800"/>
            <a:ext cx="17739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42316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188720" y="2423160"/>
            <a:ext cx="1773936" cy="539496"/>
          </a:xfrm>
          <a:prstGeom prst="rect">
            <a:avLst/>
          </a:prstGeom>
          <a:solidFill>
            <a:srgbClr val="2E335C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2423160"/>
            <a:ext cx="17739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17520" y="2423160"/>
            <a:ext cx="1773936" cy="539496"/>
          </a:xfrm>
          <a:prstGeom prst="rect">
            <a:avLst/>
          </a:prstGeom>
          <a:solidFill>
            <a:srgbClr val="2E335C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2423160"/>
            <a:ext cx="17739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423160"/>
            <a:ext cx="1773936" cy="539496"/>
          </a:xfrm>
          <a:prstGeom prst="rect">
            <a:avLst/>
          </a:prstGeom>
          <a:solidFill>
            <a:srgbClr val="2E335C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423160"/>
            <a:ext cx="17739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75120" y="2423160"/>
            <a:ext cx="1773936" cy="539496"/>
          </a:xfrm>
          <a:prstGeom prst="rect">
            <a:avLst/>
          </a:prstGeom>
          <a:solidFill>
            <a:srgbClr val="2E335C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2423160"/>
            <a:ext cx="17739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03920" y="2423160"/>
            <a:ext cx="1773936" cy="539496"/>
          </a:xfrm>
          <a:prstGeom prst="rect">
            <a:avLst/>
          </a:prstGeom>
          <a:solidFill>
            <a:srgbClr val="2E335C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2423160"/>
            <a:ext cx="17739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01752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188720" y="3017520"/>
            <a:ext cx="1773936" cy="539496"/>
          </a:xfrm>
          <a:prstGeom prst="rect">
            <a:avLst/>
          </a:prstGeom>
          <a:solidFill>
            <a:srgbClr val="2E335C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88720" y="3017520"/>
            <a:ext cx="17739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017520" y="3017520"/>
            <a:ext cx="1773936" cy="539496"/>
          </a:xfrm>
          <a:prstGeom prst="rect">
            <a:avLst/>
          </a:prstGeom>
          <a:solidFill>
            <a:srgbClr val="2E335C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0" y="3017520"/>
            <a:ext cx="17739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017520"/>
            <a:ext cx="1773936" cy="539496"/>
          </a:xfrm>
          <a:prstGeom prst="rect">
            <a:avLst/>
          </a:prstGeom>
          <a:solidFill>
            <a:srgbClr val="2E335C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017520"/>
            <a:ext cx="17739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75120" y="3017520"/>
            <a:ext cx="1773936" cy="539496"/>
          </a:xfrm>
          <a:prstGeom prst="rect">
            <a:avLst/>
          </a:prstGeom>
          <a:solidFill>
            <a:srgbClr val="2E335C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3017520"/>
            <a:ext cx="17739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503920" y="3017520"/>
            <a:ext cx="1773936" cy="539496"/>
          </a:xfrm>
          <a:prstGeom prst="rect">
            <a:avLst/>
          </a:prstGeom>
          <a:solidFill>
            <a:srgbClr val="2E335C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03920" y="3017520"/>
            <a:ext cx="17739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361188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(PE)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188720" y="3611880"/>
            <a:ext cx="1773936" cy="539496"/>
          </a:xfrm>
          <a:prstGeom prst="rect">
            <a:avLst/>
          </a:prstGeom>
          <a:solidFill>
            <a:srgbClr val="1FB6A6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88720" y="3611880"/>
            <a:ext cx="17739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017520" y="3611880"/>
            <a:ext cx="1773936" cy="539496"/>
          </a:xfrm>
          <a:prstGeom prst="rect">
            <a:avLst/>
          </a:prstGeom>
          <a:solidFill>
            <a:srgbClr val="1FB6A6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0" y="3611880"/>
            <a:ext cx="17739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46320" y="3611880"/>
            <a:ext cx="1773936" cy="539496"/>
          </a:xfrm>
          <a:prstGeom prst="rect">
            <a:avLst/>
          </a:prstGeom>
          <a:solidFill>
            <a:srgbClr val="1FB6A6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3611880"/>
            <a:ext cx="17739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675120" y="3611880"/>
            <a:ext cx="1773936" cy="539496"/>
          </a:xfrm>
          <a:prstGeom prst="rect">
            <a:avLst/>
          </a:prstGeom>
          <a:solidFill>
            <a:srgbClr val="1FB6A6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75120" y="3611880"/>
            <a:ext cx="17739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503920" y="3611880"/>
            <a:ext cx="1773936" cy="539496"/>
          </a:xfrm>
          <a:prstGeom prst="rect">
            <a:avLst/>
          </a:prstGeom>
          <a:solidFill>
            <a:srgbClr val="1FB6A6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03920" y="3611880"/>
            <a:ext cx="1773936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8640" y="4663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Internally: Timetable.entries is a List&lt;TimetableEntry&gt;. Each TimetableEntry binds one TimeSlot to a Subject, Teacher, and Classroom. The whole list together is the "chromosome" the GA evolves.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Timetable Generator — Genetic Algorithm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Genetic Algorithm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evolve() actually does, generation by generation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" y="20313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Initialize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9260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random timetables (PE pre-placed last)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7373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96596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100" y="203134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560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Score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29260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FitnessService penalizes every violation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0" y="17373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196596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3580" y="203134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560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58200" y="29260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best 50% as parents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6118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84048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620" y="390586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434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Crossover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800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two parents into a child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9120" y="36118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384048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3100" y="3905860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434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Mutate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17720" y="4800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chance: randomly tweak a child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29600" y="36118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58200" y="384048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3580" y="3905860"/>
            <a:ext cx="372161" cy="37216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58200" y="4434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Repeat / Stop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58200" y="4800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N generations or fitness = 0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Timetable Generator — Genetic Algorithm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Fitness Function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score is better — 0 means a perfect timetable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229600" cy="3520440"/>
        </p:xfrm>
        <a:graphic>
          <a:graphicData uri="http://schemas.openxmlformats.org/drawingml/2006/table">
            <a:tbl>
              <a:tblPr/>
              <a:tblGrid>
                <a:gridCol w="566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 double-booked in same slot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Classroom double-booked in same slot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Subject/classroom mismatch (e.g. PE not in Gym)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 not in the last period of the 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 not qualified for the subject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subject repeated on the same 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38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098280" y="16916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1B1F3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326880" y="192024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2260" y="1985620"/>
            <a:ext cx="372161" cy="3721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0" y="2514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calculateFitness()</a:t>
            </a:r>
            <a:endParaRPr lang="en-US" sz="1300" dirty="0"/>
          </a:p>
        </p:txBody>
      </p:sp>
      <p:sp>
        <p:nvSpPr>
          <p:cNvPr id="4" name="Text 5"/>
          <p:cNvSpPr/>
          <p:nvPr/>
        </p:nvSpPr>
        <p:spPr>
          <a:xfrm>
            <a:off x="9326880" y="2926080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 every penalty across all entries in a Timetable and stores it as fitnessScore. The GA always evolves toward the lowest possible score.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Timetable Generator — Genetic Algorithm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&amp; Crossover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Breeding better timetables from good ones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199156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933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select()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the whole population by fitness score and keeps the top 50% as parents for the next generation. This is a simple form of elitism: good genes survive, bad ones get dropped.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4251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8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table.sorted by fitness -&gt; take first half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47548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there's no random tournament here — it's strict top-50% truncation selection.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920240"/>
            <a:ext cx="548640" cy="54864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123" y="1991563"/>
            <a:ext cx="405994" cy="4059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1993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crossover()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446520" y="26974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two random parents from the survivors, takes the first half of Parent A's entries and the second half of Parent B's entries, and stitches them into a new child timetable.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446520" y="41148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3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slicing can put a non-PE subject into the day's last period, repairPeConstraint() runs immediately after crossover to force PE back into every day's final slot.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Timetable Generator — Genetic Algorithm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population from going stale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2E335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8740" y="242316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120" y="24885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chance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child, checked each generation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606040" y="30175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834640" y="21945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2E335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89020" y="242316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4400" y="2488540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26080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slot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2608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non-PE entry (PE is protected)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846320" y="30175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074920" y="21945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2E335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829300" y="242316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4680" y="2488540"/>
            <a:ext cx="372161" cy="3721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66360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subject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16636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regular subject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7086600" y="30175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7315200" y="21945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2E335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069580" y="242316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4960" y="2488540"/>
            <a:ext cx="372161" cy="37216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06640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teacher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40664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qualified for that subject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9326880" y="30175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9555480" y="21945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2E335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309860" y="242316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5240" y="2488540"/>
            <a:ext cx="372161" cy="37216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46920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classroom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646920" y="3474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non-Gym room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731520" y="47548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introduces variety that crossover alone can't — preventing the population from converging on a local optimum before reaching fitness 0.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Timetable Generator — Genetic Algorithm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run the program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7647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subjects, teachers, classrooms from the database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96312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96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47802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user: how many subjects per day? (validated against available subjects)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09544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09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319125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fresh TimeSlots for Mon-Fri x periods-per-day, saved to DB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922776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90448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initial population of 50 random timetables (PE pre-placed last)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636008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36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6177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evolve() for up to 200 generations, or until fitness = 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533095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best timetable as an ASCII grid in the terminal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Timetable Generator — Genetic Algorithm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result after the algorithm converges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97680"/>
          </a:xfrm>
          <a:prstGeom prst="roundRect">
            <a:avLst>
              <a:gd name="adj" fmla="val 1702"/>
            </a:avLst>
          </a:prstGeom>
          <a:solidFill>
            <a:srgbClr val="12152A"/>
          </a:solidFill>
          <a:ln w="9525">
            <a:solidFill>
              <a:srgbClr val="1FB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10515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****************************************************************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10515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           GENERATED SCHOOL TIMETABLE                     *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368296"/>
            <a:ext cx="10515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****************************************************************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15184"/>
            <a:ext cx="10515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10515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    | MONDAY        | TUESDAY       | WEDNESDAY     | ...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10515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355848"/>
            <a:ext cx="10515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        | Mathematics   | Chemistry     | English       | ...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602736"/>
            <a:ext cx="10515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| Mr. Davit     | Ms. Nino      | Mr. Domenti   | ...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849624"/>
            <a:ext cx="10515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| Room 101      | Room 103      | Room 102      | ...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096512"/>
            <a:ext cx="10515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343400"/>
            <a:ext cx="10515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        | PE            | PE            | PE            | ...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590288"/>
            <a:ext cx="10515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| Mr. Lasha     | Mr. Lasha     | Mr. Lasha     | ...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837176"/>
            <a:ext cx="10515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| Gym           | Gym           | Gym           | ...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084064"/>
            <a:ext cx="10515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330952"/>
            <a:ext cx="10515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577840"/>
            <a:ext cx="10515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B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Optimal timetable found (fitness score: 0).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Timetable Generator — Genetic Algorithm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 made along the way and why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" y="198562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9280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TimetableDao is the mapper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TimetableMapper interface — the DAO itself is the MyBatis mapper, reducing duplication.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92024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620" y="198562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89280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to the interface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92240" y="25603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holds a GeneticAlgorithmService reference, not the Impl — swap implementations without touching callers.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20" y="418018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08736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save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77240" y="47548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openManagedSession() commits the timetable header and all entries together, or rolls back entirely on failure.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8862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11480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7620" y="418018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08736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locked structurally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92240" y="47548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is placed in the last slot during initialization AND re-enforced after every crossover via repairPeConstraint().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Timetable Generator — Genetic Algorithm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E33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project goes from here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00" y="216850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57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class groups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42316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Timetable to handle several class groups concurrently, with cross-group teacher conflicts.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306324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00" y="3128620"/>
            <a:ext cx="372161" cy="3721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017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GA parameters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338328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population size, mutation rate, and generation count for faster convergence.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31520" y="402336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900" y="4088740"/>
            <a:ext cx="372161" cy="3721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977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reload timetables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17320" y="43434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the winning timetable via TimetableDao.insert() and support viewing past runs.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31520" y="4983480"/>
            <a:ext cx="502920" cy="50292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900" y="5048860"/>
            <a:ext cx="372161" cy="37216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4937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console menus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417320" y="530352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add/edit subjects, teachers, and classrooms directly from the terminal.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Timetable Generator — Genetic Algorithm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1212</Words>
  <Application>Microsoft Office PowerPoint</Application>
  <PresentationFormat>Widescreen</PresentationFormat>
  <Paragraphs>242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Timetable Generator — Genetic Algorithm</dc:title>
  <dc:subject>PptxGenJS Presentation</dc:subject>
  <dc:creator>George</dc:creator>
  <cp:lastModifiedBy>Giorgi Chonkadze</cp:lastModifiedBy>
  <cp:revision>4</cp:revision>
  <dcterms:created xsi:type="dcterms:W3CDTF">2026-06-16T05:35:20Z</dcterms:created>
  <dcterms:modified xsi:type="dcterms:W3CDTF">2026-06-16T13:57:21Z</dcterms:modified>
</cp:coreProperties>
</file>